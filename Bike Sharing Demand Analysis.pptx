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Shiva%20Singh%20Bike%20Sharing%20Demand%20Analysis%20Project%20Using%20Exce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hiva\BikeSharing%20Combined%20Datesetxlsx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hiva\BikeSharing%20Combined%20Datesetxlsx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hiva\BikeSharing%20Combined%20Datesetxlsx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Data!Hourly bike rides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i="0" u="none" strike="noStrike" kern="1200" cap="none" spc="50" baseline="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Hourly Bike Rides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cap="none" spc="50" baseline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cap="none" spc="50" baseline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cap="none" spc="50" baseline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cap="none" spc="50" baseline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4242208005249347E-2"/>
          <c:y val="0.10503645976491131"/>
          <c:w val="0.87222613188976383"/>
          <c:h val="0.763843123305685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'Descriptive Data'!$C$40</c:f>
              <c:strCache>
                <c:ptCount val="1"/>
                <c:pt idx="0">
                  <c:v>Casual Customers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4000"/>
                  </a:schemeClr>
                </a:gs>
                <a:gs pos="100000">
                  <a:schemeClr val="accent2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trendline>
            <c:spPr>
              <a:ln w="19050" cap="rnd">
                <a:solidFill>
                  <a:schemeClr val="accent2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'Descriptive Data'!$B$41:$B$65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'Descriptive Data'!$C$41:$C$65</c:f>
              <c:numCache>
                <c:formatCode>General</c:formatCode>
                <c:ptCount val="24"/>
                <c:pt idx="0">
                  <c:v>74</c:v>
                </c:pt>
                <c:pt idx="1">
                  <c:v>48</c:v>
                </c:pt>
                <c:pt idx="2">
                  <c:v>33</c:v>
                </c:pt>
                <c:pt idx="3">
                  <c:v>34</c:v>
                </c:pt>
                <c:pt idx="4">
                  <c:v>7</c:v>
                </c:pt>
                <c:pt idx="5">
                  <c:v>3</c:v>
                </c:pt>
                <c:pt idx="6">
                  <c:v>21</c:v>
                </c:pt>
                <c:pt idx="7">
                  <c:v>64</c:v>
                </c:pt>
                <c:pt idx="8">
                  <c:v>127</c:v>
                </c:pt>
                <c:pt idx="9">
                  <c:v>172</c:v>
                </c:pt>
                <c:pt idx="10">
                  <c:v>216</c:v>
                </c:pt>
                <c:pt idx="11">
                  <c:v>367</c:v>
                </c:pt>
                <c:pt idx="12">
                  <c:v>482</c:v>
                </c:pt>
                <c:pt idx="13">
                  <c:v>513</c:v>
                </c:pt>
                <c:pt idx="14">
                  <c:v>466</c:v>
                </c:pt>
                <c:pt idx="15">
                  <c:v>536</c:v>
                </c:pt>
                <c:pt idx="16">
                  <c:v>493</c:v>
                </c:pt>
                <c:pt idx="17">
                  <c:v>395</c:v>
                </c:pt>
                <c:pt idx="18">
                  <c:v>222</c:v>
                </c:pt>
                <c:pt idx="19">
                  <c:v>187</c:v>
                </c:pt>
                <c:pt idx="20">
                  <c:v>140</c:v>
                </c:pt>
                <c:pt idx="21">
                  <c:v>117</c:v>
                </c:pt>
                <c:pt idx="22">
                  <c:v>103</c:v>
                </c:pt>
                <c:pt idx="23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A8-4B7B-90A2-4C1E3D1235D0}"/>
            </c:ext>
          </c:extLst>
        </c:ser>
        <c:ser>
          <c:idx val="1"/>
          <c:order val="1"/>
          <c:tx>
            <c:strRef>
              <c:f>'Descriptive Data'!$D$40</c:f>
              <c:strCache>
                <c:ptCount val="1"/>
                <c:pt idx="0">
                  <c:v>Registered Customers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4000"/>
                  </a:schemeClr>
                </a:gs>
                <a:gs pos="100000">
                  <a:schemeClr val="accent4">
                    <a:shade val="90000"/>
                    <a:lumMod val="9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cat>
            <c:strRef>
              <c:f>'Descriptive Data'!$B$41:$B$65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'Descriptive Data'!$D$41:$D$65</c:f>
              <c:numCache>
                <c:formatCode>General</c:formatCode>
                <c:ptCount val="24"/>
                <c:pt idx="0">
                  <c:v>629</c:v>
                </c:pt>
                <c:pt idx="1">
                  <c:v>412</c:v>
                </c:pt>
                <c:pt idx="2">
                  <c:v>261</c:v>
                </c:pt>
                <c:pt idx="3">
                  <c:v>117</c:v>
                </c:pt>
                <c:pt idx="4">
                  <c:v>62</c:v>
                </c:pt>
                <c:pt idx="5">
                  <c:v>161</c:v>
                </c:pt>
                <c:pt idx="6">
                  <c:v>801</c:v>
                </c:pt>
                <c:pt idx="7">
                  <c:v>2275</c:v>
                </c:pt>
                <c:pt idx="8">
                  <c:v>5261</c:v>
                </c:pt>
                <c:pt idx="9">
                  <c:v>3500</c:v>
                </c:pt>
                <c:pt idx="10">
                  <c:v>2037</c:v>
                </c:pt>
                <c:pt idx="11">
                  <c:v>2127</c:v>
                </c:pt>
                <c:pt idx="12">
                  <c:v>2801</c:v>
                </c:pt>
                <c:pt idx="13">
                  <c:v>2863</c:v>
                </c:pt>
                <c:pt idx="14">
                  <c:v>2734</c:v>
                </c:pt>
                <c:pt idx="15">
                  <c:v>2816</c:v>
                </c:pt>
                <c:pt idx="16">
                  <c:v>3435</c:v>
                </c:pt>
                <c:pt idx="17">
                  <c:v>5774</c:v>
                </c:pt>
                <c:pt idx="18">
                  <c:v>5061</c:v>
                </c:pt>
                <c:pt idx="19">
                  <c:v>3474</c:v>
                </c:pt>
                <c:pt idx="20">
                  <c:v>2516</c:v>
                </c:pt>
                <c:pt idx="21">
                  <c:v>1879</c:v>
                </c:pt>
                <c:pt idx="22">
                  <c:v>1405</c:v>
                </c:pt>
                <c:pt idx="23">
                  <c:v>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A8-4B7B-90A2-4C1E3D123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58679264"/>
        <c:axId val="7042895"/>
      </c:barChart>
      <c:catAx>
        <c:axId val="17586792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dirty="0"/>
                  <a:t>Hours</a:t>
                </a:r>
              </a:p>
            </c:rich>
          </c:tx>
          <c:layout>
            <c:manualLayout>
              <c:xMode val="edge"/>
              <c:yMode val="edge"/>
              <c:x val="0.49920423228346456"/>
              <c:y val="0.93206698751978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42895"/>
        <c:crosses val="autoZero"/>
        <c:auto val="1"/>
        <c:lblAlgn val="ctr"/>
        <c:lblOffset val="100"/>
        <c:noMultiLvlLbl val="0"/>
      </c:catAx>
      <c:valAx>
        <c:axId val="70428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dirty="0"/>
                  <a:t>Customers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867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09333989501318"/>
          <c:y val="0.2069355293627311"/>
          <c:w val="0.17332332677165355"/>
          <c:h val="0.134680161899680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Excel.xlsx]Dashboard!Daily bike rides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Daily customer</a:t>
            </a:r>
            <a:r>
              <a:rPr lang="en-IN" baseline="0"/>
              <a:t> Rides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Dashboard!$C$16</c:f>
              <c:strCache>
                <c:ptCount val="1"/>
                <c:pt idx="0">
                  <c:v>Casual Customers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Dashboard!$B$17:$B$24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Dashboard!$C$17:$C$24</c:f>
              <c:numCache>
                <c:formatCode>General</c:formatCode>
                <c:ptCount val="7"/>
                <c:pt idx="0">
                  <c:v>1477</c:v>
                </c:pt>
                <c:pt idx="1">
                  <c:v>534</c:v>
                </c:pt>
                <c:pt idx="2">
                  <c:v>457</c:v>
                </c:pt>
                <c:pt idx="3">
                  <c:v>344</c:v>
                </c:pt>
                <c:pt idx="4">
                  <c:v>332</c:v>
                </c:pt>
                <c:pt idx="5">
                  <c:v>552</c:v>
                </c:pt>
                <c:pt idx="6">
                  <c:v>1225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5-4B19-BED9-501DDC1B15EE}"/>
            </c:ext>
          </c:extLst>
        </c:ser>
        <c:ser>
          <c:idx val="1"/>
          <c:order val="1"/>
          <c:tx>
            <c:strRef>
              <c:f>Dashboard!$D$16</c:f>
              <c:strCache>
                <c:ptCount val="1"/>
                <c:pt idx="0">
                  <c:v>Registered Customers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Dashboard!$B$17:$B$24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Dashboard!$D$17:$D$24</c:f>
              <c:numCache>
                <c:formatCode>General</c:formatCode>
                <c:ptCount val="7"/>
                <c:pt idx="0">
                  <c:v>6644</c:v>
                </c:pt>
                <c:pt idx="1">
                  <c:v>7916</c:v>
                </c:pt>
                <c:pt idx="2">
                  <c:v>7926</c:v>
                </c:pt>
                <c:pt idx="3">
                  <c:v>7705</c:v>
                </c:pt>
                <c:pt idx="4">
                  <c:v>8126</c:v>
                </c:pt>
                <c:pt idx="5">
                  <c:v>8543</c:v>
                </c:pt>
                <c:pt idx="6">
                  <c:v>6523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F5-4B19-BED9-501DDC1B15E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27826335"/>
        <c:axId val="142660271"/>
      </c:barChart>
      <c:catAx>
        <c:axId val="2278263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660271"/>
        <c:crosses val="autoZero"/>
        <c:auto val="1"/>
        <c:lblAlgn val="ctr"/>
        <c:lblOffset val="100"/>
        <c:noMultiLvlLbl val="0"/>
      </c:catAx>
      <c:valAx>
        <c:axId val="1426602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826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86130249343832"/>
          <c:y val="0.43487292304150765"/>
          <c:w val="0.11513697506561679"/>
          <c:h val="0.134621078364305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Data!PivotTable5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200" dirty="0"/>
              <a:t>Casual</a:t>
            </a:r>
            <a:r>
              <a:rPr lang="en-US" sz="3200" baseline="0" dirty="0"/>
              <a:t> Customers</a:t>
            </a:r>
            <a:endParaRPr lang="en-US" sz="3200" dirty="0"/>
          </a:p>
        </c:rich>
      </c:tx>
      <c:layout>
        <c:manualLayout>
          <c:xMode val="edge"/>
          <c:yMode val="edge"/>
          <c:x val="0.10933174789000119"/>
          <c:y val="9.30729100074718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pPr>
            <a:solidFill>
              <a:schemeClr val="accent1">
                <a:alpha val="85000"/>
              </a:schemeClr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pPr>
            <a:solidFill>
              <a:schemeClr val="accent1">
                <a:alpha val="85000"/>
              </a:schemeClr>
            </a:solidFill>
            <a:ln w="9525">
              <a:noFill/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cap="none" spc="0" baseline="0">
                  <a:ln w="0"/>
                  <a:solidFill>
                    <a:schemeClr val="l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cap="none" spc="0" baseline="0">
                  <a:ln w="0"/>
                  <a:solidFill>
                    <a:schemeClr val="l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cap="none" spc="0" baseline="0">
                  <a:ln w="0"/>
                  <a:solidFill>
                    <a:schemeClr val="l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cap="none" spc="0" baseline="0">
                  <a:ln w="0"/>
                  <a:solidFill>
                    <a:schemeClr val="l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</c:pivotFmts>
    <c:plotArea>
      <c:layout>
        <c:manualLayout>
          <c:layoutTarget val="inner"/>
          <c:xMode val="edge"/>
          <c:yMode val="edge"/>
          <c:x val="0.17027724277271097"/>
          <c:y val="0.33092373869932928"/>
          <c:w val="0.42788053022149208"/>
          <c:h val="0.66083770778652673"/>
        </c:manualLayout>
      </c:layout>
      <c:pieChart>
        <c:varyColors val="1"/>
        <c:ser>
          <c:idx val="0"/>
          <c:order val="0"/>
          <c:tx>
            <c:strRef>
              <c:f>'Descriptive Data'!$C$75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1-233D-4550-9DCF-1B8629C7B87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4000"/>
                    </a:schemeClr>
                  </a:gs>
                  <a:gs pos="100000">
                    <a:schemeClr val="accent2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3-233D-4550-9DCF-1B8629C7B87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4000"/>
                    </a:schemeClr>
                  </a:gs>
                  <a:gs pos="100000">
                    <a:schemeClr val="accent3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5-233D-4550-9DCF-1B8629C7B87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6000"/>
                      <a:lumMod val="104000"/>
                    </a:schemeClr>
                  </a:gs>
                  <a:gs pos="100000">
                    <a:schemeClr val="accent4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7-233D-4550-9DCF-1B8629C7B8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'Descriptive Data'!$B$76:$B$80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'Descriptive Data'!$C$76:$C$80</c:f>
              <c:numCache>
                <c:formatCode>General</c:formatCode>
                <c:ptCount val="4"/>
                <c:pt idx="0">
                  <c:v>3211</c:v>
                </c:pt>
                <c:pt idx="1">
                  <c:v>1538</c:v>
                </c:pt>
                <c:pt idx="2">
                  <c:v>171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3D-4550-9DCF-1B8629C7B87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821221169542486"/>
          <c:y val="0.35175255842415704"/>
          <c:w val="9.1706208864633751E-2"/>
          <c:h val="0.537214259724179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 cap="none" spc="0">
          <a:ln w="0"/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Data!PivotTable39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/>
              <a:t>Registered Customer</a:t>
            </a:r>
          </a:p>
        </c:rich>
      </c:tx>
      <c:layout>
        <c:manualLayout>
          <c:xMode val="edge"/>
          <c:yMode val="edge"/>
          <c:x val="0.16008391317943066"/>
          <c:y val="0.100957889376747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</c:pivotFmts>
    <c:plotArea>
      <c:layout>
        <c:manualLayout>
          <c:layoutTarget val="inner"/>
          <c:xMode val="edge"/>
          <c:yMode val="edge"/>
          <c:x val="0.19066412430153548"/>
          <c:y val="0.31564596092155145"/>
          <c:w val="0.39727198734304553"/>
          <c:h val="0.63342811315252256"/>
        </c:manualLayout>
      </c:layout>
      <c:pieChart>
        <c:varyColors val="1"/>
        <c:ser>
          <c:idx val="0"/>
          <c:order val="0"/>
          <c:tx>
            <c:strRef>
              <c:f>'Descriptive Data'!$H$69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1-DB7B-4894-A67F-B422551FEC6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4000"/>
                    </a:schemeClr>
                  </a:gs>
                  <a:gs pos="100000">
                    <a:schemeClr val="accent2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3-DB7B-4894-A67F-B422551FEC6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4000"/>
                    </a:schemeClr>
                  </a:gs>
                  <a:gs pos="100000">
                    <a:schemeClr val="accent3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5-DB7B-4894-A67F-B422551FEC6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6000"/>
                      <a:lumMod val="104000"/>
                    </a:schemeClr>
                  </a:gs>
                  <a:gs pos="100000">
                    <a:schemeClr val="accent4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7-DB7B-4894-A67F-B422551FEC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'Descriptive Data'!$G$70:$G$74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'Descriptive Data'!$H$70:$H$74</c:f>
              <c:numCache>
                <c:formatCode>General</c:formatCode>
                <c:ptCount val="4"/>
                <c:pt idx="0">
                  <c:v>34162</c:v>
                </c:pt>
                <c:pt idx="1">
                  <c:v>16568</c:v>
                </c:pt>
                <c:pt idx="2">
                  <c:v>2618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7B-4894-A67F-B422551FEC67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33898485660757"/>
          <c:y val="0.3529823723916945"/>
          <c:w val="9.4098322210184882E-2"/>
          <c:h val="0.427710922027957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Data!PivotTable41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Daily Temp</a:t>
            </a:r>
          </a:p>
        </c:rich>
      </c:tx>
      <c:layout>
        <c:manualLayout>
          <c:xMode val="edge"/>
          <c:yMode val="edge"/>
          <c:x val="0.34483047897412417"/>
          <c:y val="2.3472597345496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'Descriptive Data'!$C$91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4000"/>
                    </a:schemeClr>
                  </a:gs>
                  <a:gs pos="100000">
                    <a:schemeClr val="accent1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1-C115-4105-9A57-2B9799FB43C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4000"/>
                    </a:schemeClr>
                  </a:gs>
                  <a:gs pos="100000">
                    <a:schemeClr val="accent3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3-C115-4105-9A57-2B9799FB43C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tint val="96000"/>
                      <a:lumMod val="104000"/>
                    </a:schemeClr>
                  </a:gs>
                  <a:gs pos="100000">
                    <a:schemeClr val="accent5"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5-C115-4105-9A57-2B9799FB43C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96000"/>
                      <a:lumMod val="104000"/>
                    </a:schemeClr>
                  </a:gs>
                  <a:gs pos="100000">
                    <a:schemeClr val="accent1">
                      <a:lumMod val="60000"/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7-C115-4105-9A57-2B9799FB43C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tint val="96000"/>
                      <a:lumMod val="104000"/>
                    </a:schemeClr>
                  </a:gs>
                  <a:gs pos="100000">
                    <a:schemeClr val="accent3">
                      <a:lumMod val="60000"/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9-C115-4105-9A57-2B9799FB43C4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tint val="96000"/>
                      <a:lumMod val="104000"/>
                    </a:schemeClr>
                  </a:gs>
                  <a:gs pos="100000">
                    <a:schemeClr val="accent5">
                      <a:lumMod val="60000"/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B-C115-4105-9A57-2B9799FB43C4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lumOff val="20000"/>
                      <a:tint val="96000"/>
                      <a:lumMod val="104000"/>
                    </a:schemeClr>
                  </a:gs>
                  <a:gs pos="100000">
                    <a:schemeClr val="accent1">
                      <a:lumMod val="80000"/>
                      <a:lumOff val="20000"/>
                      <a:shade val="90000"/>
                      <a:lumMod val="9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 prst="hardEdge"/>
              </a:sp3d>
            </c:spPr>
            <c:extLst>
              <c:ext xmlns:c16="http://schemas.microsoft.com/office/drawing/2014/chart" uri="{C3380CC4-5D6E-409C-BE32-E72D297353CC}">
                <c16:uniqueId val="{0000000D-C115-4105-9A57-2B9799FB43C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'Descriptive Data'!$B$92:$B$99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'Descriptive Data'!$C$92:$C$99</c:f>
              <c:numCache>
                <c:formatCode>0.0000000000</c:formatCode>
                <c:ptCount val="7"/>
                <c:pt idx="0">
                  <c:v>0.23524390243902446</c:v>
                </c:pt>
                <c:pt idx="1">
                  <c:v>0.18818791946308716</c:v>
                </c:pt>
                <c:pt idx="2">
                  <c:v>0.20299212598425193</c:v>
                </c:pt>
                <c:pt idx="3">
                  <c:v>0.21801526717557226</c:v>
                </c:pt>
                <c:pt idx="4">
                  <c:v>0.19296000000000002</c:v>
                </c:pt>
                <c:pt idx="5">
                  <c:v>0.18971014492753613</c:v>
                </c:pt>
                <c:pt idx="6">
                  <c:v>0.20867469879518055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115-4105-9A57-2B9799FB43C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Data!PivotTable42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 Assumed Temp.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3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5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3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5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>
              <a:lumMod val="80000"/>
              <a:lumOff val="2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3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5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3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5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>
              <a:lumMod val="80000"/>
              <a:lumOff val="2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3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5"/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3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2"/>
        <c:spPr>
          <a:solidFill>
            <a:schemeClr val="accent5">
              <a:lumMod val="6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1">
              <a:lumMod val="80000"/>
              <a:lumOff val="20000"/>
            </a:schemeClr>
          </a:solidFill>
          <a:ln w="19050"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'Descriptive Data'!$I$89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B5-4A94-908E-6A6DFD68FC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B5-4A94-908E-6A6DFD68FC6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B5-4A94-908E-6A6DFD68FC6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9B5-4A94-908E-6A6DFD68FC6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9B5-4A94-908E-6A6DFD68FC6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9B5-4A94-908E-6A6DFD68FC6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9B5-4A94-908E-6A6DFD68FC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'Descriptive Data'!$H$90:$H$97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'Descriptive Data'!$I$90:$I$97</c:f>
              <c:numCache>
                <c:formatCode>General</c:formatCode>
                <c:ptCount val="7"/>
                <c:pt idx="0">
                  <c:v>0.23390731707317097</c:v>
                </c:pt>
                <c:pt idx="1">
                  <c:v>0.19560939597315438</c:v>
                </c:pt>
                <c:pt idx="2">
                  <c:v>0.21608897637795269</c:v>
                </c:pt>
                <c:pt idx="3">
                  <c:v>0.21640763358778611</c:v>
                </c:pt>
                <c:pt idx="4">
                  <c:v>0.19515679999999977</c:v>
                </c:pt>
                <c:pt idx="5">
                  <c:v>0.20301304347826074</c:v>
                </c:pt>
                <c:pt idx="6">
                  <c:v>0.21756325301204801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9B5-4A94-908E-6A6DFD68FC60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Data!PivotTable59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5400" dirty="0"/>
              <a:t>Weekly Bike</a:t>
            </a:r>
            <a:r>
              <a:rPr lang="en-US" sz="5400" baseline="0" dirty="0"/>
              <a:t> </a:t>
            </a:r>
            <a:r>
              <a:rPr lang="en-US" sz="5400" dirty="0"/>
              <a:t>Rides</a:t>
            </a:r>
          </a:p>
        </c:rich>
      </c:tx>
      <c:layout>
        <c:manualLayout>
          <c:xMode val="edge"/>
          <c:yMode val="edge"/>
          <c:x val="0.27995314304846269"/>
          <c:y val="3.70370424375973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 cmpd="sng" algn="ctr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 cmpd="sng" algn="ctr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34925" cap="rnd" cmpd="sng" algn="ctr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'Descriptive Data'!$C$105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'Descriptive Data'!$B$106:$B$113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'Descriptive Data'!$C$106:$C$113</c:f>
              <c:numCache>
                <c:formatCode>General</c:formatCode>
                <c:ptCount val="7"/>
                <c:pt idx="0">
                  <c:v>8121</c:v>
                </c:pt>
                <c:pt idx="1">
                  <c:v>8450</c:v>
                </c:pt>
                <c:pt idx="2">
                  <c:v>8383</c:v>
                </c:pt>
                <c:pt idx="3">
                  <c:v>8049</c:v>
                </c:pt>
                <c:pt idx="4">
                  <c:v>8458</c:v>
                </c:pt>
                <c:pt idx="5">
                  <c:v>9095</c:v>
                </c:pt>
                <c:pt idx="6">
                  <c:v>7748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71-4E5E-9804-EEB6D257691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upDownBars>
          <c:gapWidth val="315"/>
          <c:upBars>
            <c:spPr>
              <a:solidFill>
                <a:schemeClr val="lt1">
                  <a:lumMod val="85000"/>
                </a:schemeClr>
              </a:solidFill>
              <a:ln w="9525">
                <a:solidFill>
                  <a:schemeClr val="dk1">
                    <a:lumMod val="50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dk1">
                  <a:lumMod val="50000"/>
                  <a:lumOff val="50000"/>
                </a:schemeClr>
              </a:solidFill>
              <a:ln w="9525">
                <a:solidFill>
                  <a:schemeClr val="dk1">
                    <a:lumMod val="75000"/>
                  </a:schemeClr>
                </a:solidFill>
                <a:round/>
              </a:ln>
              <a:effectLst/>
            </c:spPr>
          </c:downBars>
        </c:upDownBars>
        <c:smooth val="0"/>
        <c:axId val="271315151"/>
        <c:axId val="7033295"/>
      </c:lineChart>
      <c:catAx>
        <c:axId val="271315151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33295"/>
        <c:crosses val="autoZero"/>
        <c:auto val="1"/>
        <c:lblAlgn val="ctr"/>
        <c:lblOffset val="100"/>
        <c:noMultiLvlLbl val="0"/>
      </c:catAx>
      <c:valAx>
        <c:axId val="7033295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131515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50000"/>
                <a:lumOff val="5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Data!PivotTable1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0000"/>
                  <a:lumMod val="90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0000"/>
                  <a:lumMod val="90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96000"/>
                  <a:lumMod val="104000"/>
                </a:schemeClr>
              </a:gs>
              <a:gs pos="100000">
                <a:schemeClr val="accent1">
                  <a:shade val="90000"/>
                  <a:lumMod val="90000"/>
                </a:schemeClr>
              </a:gs>
            </a:gsLst>
            <a:lin ang="5400000" scaled="0"/>
          </a:gra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 prst="hardEdge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'Descriptive Data'!$B$143</c:f>
              <c:strCache>
                <c:ptCount val="1"/>
                <c:pt idx="0">
                  <c:v>Casual Customers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</c:spPr>
          <c:marker>
            <c:symbol val="none"/>
          </c:marker>
          <c:cat>
            <c:strRef>
              <c:f>'Descriptive Data'!$A$144:$A$148</c:f>
              <c:strCache>
                <c:ptCount val="4"/>
                <c:pt idx="0">
                  <c:v>Dry</c:v>
                </c:pt>
                <c:pt idx="1">
                  <c:v>High Humidity</c:v>
                </c:pt>
                <c:pt idx="2">
                  <c:v>Humid</c:v>
                </c:pt>
                <c:pt idx="3">
                  <c:v>Less Humidity</c:v>
                </c:pt>
              </c:strCache>
            </c:strRef>
          </c:cat>
          <c:val>
            <c:numRef>
              <c:f>'Descriptive Data'!$B$144:$B$148</c:f>
              <c:numCache>
                <c:formatCode>General</c:formatCode>
                <c:ptCount val="4"/>
                <c:pt idx="0">
                  <c:v>1788</c:v>
                </c:pt>
                <c:pt idx="1">
                  <c:v>1221</c:v>
                </c:pt>
                <c:pt idx="2">
                  <c:v>130</c:v>
                </c:pt>
                <c:pt idx="3">
                  <c:v>1782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4A-42D9-8899-80B760A59B12}"/>
            </c:ext>
          </c:extLst>
        </c:ser>
        <c:ser>
          <c:idx val="1"/>
          <c:order val="1"/>
          <c:tx>
            <c:strRef>
              <c:f>'Descriptive Data'!$C$143</c:f>
              <c:strCache>
                <c:ptCount val="1"/>
                <c:pt idx="0">
                  <c:v>Registered Customers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</c:spPr>
          <c:marker>
            <c:symbol val="none"/>
          </c:marker>
          <c:cat>
            <c:strRef>
              <c:f>'Descriptive Data'!$A$144:$A$148</c:f>
              <c:strCache>
                <c:ptCount val="4"/>
                <c:pt idx="0">
                  <c:v>Dry</c:v>
                </c:pt>
                <c:pt idx="1">
                  <c:v>High Humidity</c:v>
                </c:pt>
                <c:pt idx="2">
                  <c:v>Humid</c:v>
                </c:pt>
                <c:pt idx="3">
                  <c:v>Less Humidity</c:v>
                </c:pt>
              </c:strCache>
            </c:strRef>
          </c:cat>
          <c:val>
            <c:numRef>
              <c:f>'Descriptive Data'!$C$144:$C$148</c:f>
              <c:numCache>
                <c:formatCode>General</c:formatCode>
                <c:ptCount val="4"/>
                <c:pt idx="0">
                  <c:v>13881</c:v>
                </c:pt>
                <c:pt idx="1">
                  <c:v>15163</c:v>
                </c:pt>
                <c:pt idx="2">
                  <c:v>1388</c:v>
                </c:pt>
                <c:pt idx="3">
                  <c:v>22951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4A-42D9-8899-80B760A59B12}"/>
            </c:ext>
          </c:extLst>
        </c:ser>
        <c:ser>
          <c:idx val="2"/>
          <c:order val="2"/>
          <c:tx>
            <c:strRef>
              <c:f>'Descriptive Data'!$D$143</c:f>
              <c:strCache>
                <c:ptCount val="1"/>
                <c:pt idx="0">
                  <c:v>Total Riders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76200" dist="38100" dir="5400000" rotWithShape="0">
                <a:srgbClr val="000000">
                  <a:alpha val="75000"/>
                </a:srgbClr>
              </a:outerShdw>
            </a:effectLst>
          </c:spPr>
          <c:marker>
            <c:symbol val="none"/>
          </c:marker>
          <c:cat>
            <c:strRef>
              <c:f>'Descriptive Data'!$A$144:$A$148</c:f>
              <c:strCache>
                <c:ptCount val="4"/>
                <c:pt idx="0">
                  <c:v>Dry</c:v>
                </c:pt>
                <c:pt idx="1">
                  <c:v>High Humidity</c:v>
                </c:pt>
                <c:pt idx="2">
                  <c:v>Humid</c:v>
                </c:pt>
                <c:pt idx="3">
                  <c:v>Less Humidity</c:v>
                </c:pt>
              </c:strCache>
            </c:strRef>
          </c:cat>
          <c:val>
            <c:numRef>
              <c:f>'Descriptive Data'!$D$144:$D$148</c:f>
              <c:numCache>
                <c:formatCode>General</c:formatCode>
                <c:ptCount val="4"/>
                <c:pt idx="0">
                  <c:v>15669</c:v>
                </c:pt>
                <c:pt idx="1">
                  <c:v>16384</c:v>
                </c:pt>
                <c:pt idx="2">
                  <c:v>1518</c:v>
                </c:pt>
                <c:pt idx="3">
                  <c:v>24733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44A-42D9-8899-80B760A59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4254383"/>
        <c:axId val="624264943"/>
      </c:lineChart>
      <c:catAx>
        <c:axId val="62425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264943"/>
        <c:crosses val="autoZero"/>
        <c:auto val="1"/>
        <c:lblAlgn val="ctr"/>
        <c:lblOffset val="100"/>
        <c:noMultiLvlLbl val="0"/>
      </c:catAx>
      <c:valAx>
        <c:axId val="624264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425438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/>
              <a:t>Daily </a:t>
            </a:r>
            <a:r>
              <a:rPr lang="en-US" sz="3200" baseline="0" dirty="0"/>
              <a:t>Bike Rides</a:t>
            </a:r>
            <a:endParaRPr lang="en-US" sz="3200" dirty="0"/>
          </a:p>
        </c:rich>
      </c:tx>
      <c:layout>
        <c:manualLayout>
          <c:xMode val="edge"/>
          <c:yMode val="edge"/>
          <c:x val="0.37157808398950132"/>
          <c:y val="6.6666676387675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'Descriptive Data'!$B$190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'Descriptive Data'!$A$191:$A$238</c:f>
              <c:multiLvlStrCache>
                <c:ptCount val="45"/>
                <c:lvl>
                  <c:pt idx="0">
                    <c:v>01-Jan</c:v>
                  </c:pt>
                  <c:pt idx="1">
                    <c:v>02-Jan</c:v>
                  </c:pt>
                  <c:pt idx="2">
                    <c:v>03-Jan</c:v>
                  </c:pt>
                  <c:pt idx="3">
                    <c:v>04-Jan</c:v>
                  </c:pt>
                  <c:pt idx="4">
                    <c:v>05-Jan</c:v>
                  </c:pt>
                  <c:pt idx="5">
                    <c:v>06-Jan</c:v>
                  </c:pt>
                  <c:pt idx="6">
                    <c:v>07-Jan</c:v>
                  </c:pt>
                  <c:pt idx="7">
                    <c:v>08-Jan</c:v>
                  </c:pt>
                  <c:pt idx="8">
                    <c:v>09-Jan</c:v>
                  </c:pt>
                  <c:pt idx="9">
                    <c:v>10-Jan</c:v>
                  </c:pt>
                  <c:pt idx="10">
                    <c:v>11-Jan</c:v>
                  </c:pt>
                  <c:pt idx="11">
                    <c:v>12-Jan</c:v>
                  </c:pt>
                  <c:pt idx="12">
                    <c:v>13-Jan</c:v>
                  </c:pt>
                  <c:pt idx="13">
                    <c:v>14-Jan</c:v>
                  </c:pt>
                  <c:pt idx="14">
                    <c:v>15-Jan</c:v>
                  </c:pt>
                  <c:pt idx="15">
                    <c:v>16-Jan</c:v>
                  </c:pt>
                  <c:pt idx="16">
                    <c:v>17-Jan</c:v>
                  </c:pt>
                  <c:pt idx="17">
                    <c:v>18-Jan</c:v>
                  </c:pt>
                  <c:pt idx="18">
                    <c:v>19-Jan</c:v>
                  </c:pt>
                  <c:pt idx="19">
                    <c:v>20-Jan</c:v>
                  </c:pt>
                  <c:pt idx="20">
                    <c:v>21-Jan</c:v>
                  </c:pt>
                  <c:pt idx="21">
                    <c:v>22-Jan</c:v>
                  </c:pt>
                  <c:pt idx="22">
                    <c:v>23-Jan</c:v>
                  </c:pt>
                  <c:pt idx="23">
                    <c:v>24-Jan</c:v>
                  </c:pt>
                  <c:pt idx="24">
                    <c:v>25-Jan</c:v>
                  </c:pt>
                  <c:pt idx="25">
                    <c:v>26-Jan</c:v>
                  </c:pt>
                  <c:pt idx="26">
                    <c:v>27-Jan</c:v>
                  </c:pt>
                  <c:pt idx="27">
                    <c:v>28-Jan</c:v>
                  </c:pt>
                  <c:pt idx="28">
                    <c:v>29-Jan</c:v>
                  </c:pt>
                  <c:pt idx="29">
                    <c:v>30-Jan</c:v>
                  </c:pt>
                  <c:pt idx="30">
                    <c:v>31-Jan</c:v>
                  </c:pt>
                  <c:pt idx="31">
                    <c:v>01-Feb</c:v>
                  </c:pt>
                  <c:pt idx="32">
                    <c:v>02-Feb</c:v>
                  </c:pt>
                  <c:pt idx="33">
                    <c:v>03-Feb</c:v>
                  </c:pt>
                  <c:pt idx="34">
                    <c:v>04-Feb</c:v>
                  </c:pt>
                  <c:pt idx="35">
                    <c:v>05-Feb</c:v>
                  </c:pt>
                  <c:pt idx="36">
                    <c:v>06-Feb</c:v>
                  </c:pt>
                  <c:pt idx="37">
                    <c:v>07-Feb</c:v>
                  </c:pt>
                  <c:pt idx="38">
                    <c:v>08-Feb</c:v>
                  </c:pt>
                  <c:pt idx="39">
                    <c:v>09-Feb</c:v>
                  </c:pt>
                  <c:pt idx="40">
                    <c:v>10-Feb</c:v>
                  </c:pt>
                  <c:pt idx="41">
                    <c:v>11-Feb</c:v>
                  </c:pt>
                  <c:pt idx="42">
                    <c:v>12-Feb</c:v>
                  </c:pt>
                  <c:pt idx="43">
                    <c:v>13-Feb</c:v>
                  </c:pt>
                  <c:pt idx="44">
                    <c:v>14-Feb</c:v>
                  </c:pt>
                </c:lvl>
                <c:lvl>
                  <c:pt idx="0">
                    <c:v>Jan</c:v>
                  </c:pt>
                  <c:pt idx="31">
                    <c:v>Feb</c:v>
                  </c:pt>
                </c:lvl>
              </c:multiLvlStrCache>
            </c:multiLvlStrRef>
          </c:cat>
          <c:val>
            <c:numRef>
              <c:f>'Descriptive Data'!$B$191:$B$238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76-4285-8E02-7584C2192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6192128"/>
        <c:axId val="776193088"/>
      </c:lineChart>
      <c:catAx>
        <c:axId val="7761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6193088"/>
        <c:crosses val="autoZero"/>
        <c:auto val="1"/>
        <c:lblAlgn val="ctr"/>
        <c:lblOffset val="100"/>
        <c:noMultiLvlLbl val="0"/>
      </c:catAx>
      <c:valAx>
        <c:axId val="776193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61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Registered</a:t>
            </a:r>
            <a:r>
              <a:rPr lang="en-US" baseline="0" dirty="0"/>
              <a:t> vs casual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'Descriptive Data'!$A$172</c:f>
              <c:strCache>
                <c:ptCount val="1"/>
                <c:pt idx="0">
                  <c:v>Registered Customers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'Descriptive Data'!$A$173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'Descriptive Data'!$A$173</c:f>
              <c:numCache>
                <c:formatCode>General</c:formatCode>
                <c:ptCount val="1"/>
                <c:pt idx="0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7A-4960-809C-EB01B684D7A4}"/>
            </c:ext>
          </c:extLst>
        </c:ser>
        <c:ser>
          <c:idx val="1"/>
          <c:order val="1"/>
          <c:tx>
            <c:strRef>
              <c:f>'Descriptive Data'!$B$172</c:f>
              <c:strCache>
                <c:ptCount val="1"/>
                <c:pt idx="0">
                  <c:v>Casual Customers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'Descriptive Data'!$A$173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'Descriptive Data'!$B$173</c:f>
              <c:numCache>
                <c:formatCode>General</c:formatCode>
                <c:ptCount val="1"/>
                <c:pt idx="0">
                  <c:v>4921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7A-4960-809C-EB01B684D7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1722226304"/>
        <c:axId val="1722226784"/>
      </c:barChart>
      <c:catAx>
        <c:axId val="1722226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2226784"/>
        <c:crosses val="autoZero"/>
        <c:auto val="1"/>
        <c:lblAlgn val="ctr"/>
        <c:lblOffset val="100"/>
        <c:noMultiLvlLbl val="0"/>
      </c:catAx>
      <c:valAx>
        <c:axId val="1722226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2226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Excel.xlsx]Descriptive Data!PivotTable4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REGISTERED VS TOTAL RIDES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'Descriptive Data'!$C$209</c:f>
              <c:strCache>
                <c:ptCount val="1"/>
                <c:pt idx="0">
                  <c:v>Registered Customers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'Descriptive Data'!$C$210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'Descriptive Data'!$C$210</c:f>
              <c:numCache>
                <c:formatCode>General</c:formatCode>
                <c:ptCount val="1"/>
                <c:pt idx="0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6-4E9A-9572-EB418F42A678}"/>
            </c:ext>
          </c:extLst>
        </c:ser>
        <c:ser>
          <c:idx val="1"/>
          <c:order val="1"/>
          <c:tx>
            <c:strRef>
              <c:f>'Descriptive Data'!$D$209</c:f>
              <c:strCache>
                <c:ptCount val="1"/>
                <c:pt idx="0">
                  <c:v>Total Rides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'Descriptive Data'!$C$210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'Descriptive Data'!$D$210</c:f>
              <c:numCache>
                <c:formatCode>General</c:formatCode>
                <c:ptCount val="1"/>
                <c:pt idx="0">
                  <c:v>58304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76-4E9A-9572-EB418F42A6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675197328"/>
        <c:axId val="675199248"/>
      </c:barChart>
      <c:catAx>
        <c:axId val="67519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199248"/>
        <c:crosses val="autoZero"/>
        <c:auto val="1"/>
        <c:lblAlgn val="ctr"/>
        <c:lblOffset val="100"/>
        <c:noMultiLvlLbl val="0"/>
      </c:catAx>
      <c:valAx>
        <c:axId val="6751992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519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[Shiva Singh Bike Sharing Demand Analysis Project Using Excel.xlsx]Dashboard!PivotTable3</c:name>
    <c:fmtId val="12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Dashboard!$B$190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Dashboard!$A$191:$A$238</c:f>
              <c:multiLvlStrCache>
                <c:ptCount val="45"/>
                <c:lvl>
                  <c:pt idx="0">
                    <c:v>01-Jan</c:v>
                  </c:pt>
                  <c:pt idx="1">
                    <c:v>02-Jan</c:v>
                  </c:pt>
                  <c:pt idx="2">
                    <c:v>03-Jan</c:v>
                  </c:pt>
                  <c:pt idx="3">
                    <c:v>04-Jan</c:v>
                  </c:pt>
                  <c:pt idx="4">
                    <c:v>05-Jan</c:v>
                  </c:pt>
                  <c:pt idx="5">
                    <c:v>06-Jan</c:v>
                  </c:pt>
                  <c:pt idx="6">
                    <c:v>07-Jan</c:v>
                  </c:pt>
                  <c:pt idx="7">
                    <c:v>08-Jan</c:v>
                  </c:pt>
                  <c:pt idx="8">
                    <c:v>09-Jan</c:v>
                  </c:pt>
                  <c:pt idx="9">
                    <c:v>10-Jan</c:v>
                  </c:pt>
                  <c:pt idx="10">
                    <c:v>11-Jan</c:v>
                  </c:pt>
                  <c:pt idx="11">
                    <c:v>12-Jan</c:v>
                  </c:pt>
                  <c:pt idx="12">
                    <c:v>13-Jan</c:v>
                  </c:pt>
                  <c:pt idx="13">
                    <c:v>14-Jan</c:v>
                  </c:pt>
                  <c:pt idx="14">
                    <c:v>15-Jan</c:v>
                  </c:pt>
                  <c:pt idx="15">
                    <c:v>16-Jan</c:v>
                  </c:pt>
                  <c:pt idx="16">
                    <c:v>17-Jan</c:v>
                  </c:pt>
                  <c:pt idx="17">
                    <c:v>18-Jan</c:v>
                  </c:pt>
                  <c:pt idx="18">
                    <c:v>19-Jan</c:v>
                  </c:pt>
                  <c:pt idx="19">
                    <c:v>20-Jan</c:v>
                  </c:pt>
                  <c:pt idx="20">
                    <c:v>21-Jan</c:v>
                  </c:pt>
                  <c:pt idx="21">
                    <c:v>22-Jan</c:v>
                  </c:pt>
                  <c:pt idx="22">
                    <c:v>23-Jan</c:v>
                  </c:pt>
                  <c:pt idx="23">
                    <c:v>24-Jan</c:v>
                  </c:pt>
                  <c:pt idx="24">
                    <c:v>25-Jan</c:v>
                  </c:pt>
                  <c:pt idx="25">
                    <c:v>26-Jan</c:v>
                  </c:pt>
                  <c:pt idx="26">
                    <c:v>27-Jan</c:v>
                  </c:pt>
                  <c:pt idx="27">
                    <c:v>28-Jan</c:v>
                  </c:pt>
                  <c:pt idx="28">
                    <c:v>29-Jan</c:v>
                  </c:pt>
                  <c:pt idx="29">
                    <c:v>30-Jan</c:v>
                  </c:pt>
                  <c:pt idx="30">
                    <c:v>31-Jan</c:v>
                  </c:pt>
                  <c:pt idx="31">
                    <c:v>01-Feb</c:v>
                  </c:pt>
                  <c:pt idx="32">
                    <c:v>02-Feb</c:v>
                  </c:pt>
                  <c:pt idx="33">
                    <c:v>03-Feb</c:v>
                  </c:pt>
                  <c:pt idx="34">
                    <c:v>04-Feb</c:v>
                  </c:pt>
                  <c:pt idx="35">
                    <c:v>05-Feb</c:v>
                  </c:pt>
                  <c:pt idx="36">
                    <c:v>06-Feb</c:v>
                  </c:pt>
                  <c:pt idx="37">
                    <c:v>07-Feb</c:v>
                  </c:pt>
                  <c:pt idx="38">
                    <c:v>08-Feb</c:v>
                  </c:pt>
                  <c:pt idx="39">
                    <c:v>09-Feb</c:v>
                  </c:pt>
                  <c:pt idx="40">
                    <c:v>10-Feb</c:v>
                  </c:pt>
                  <c:pt idx="41">
                    <c:v>11-Feb</c:v>
                  </c:pt>
                  <c:pt idx="42">
                    <c:v>12-Feb</c:v>
                  </c:pt>
                  <c:pt idx="43">
                    <c:v>13-Feb</c:v>
                  </c:pt>
                  <c:pt idx="44">
                    <c:v>14-Feb</c:v>
                  </c:pt>
                </c:lvl>
                <c:lvl>
                  <c:pt idx="0">
                    <c:v>Jan</c:v>
                  </c:pt>
                  <c:pt idx="31">
                    <c:v>Feb</c:v>
                  </c:pt>
                </c:lvl>
              </c:multiLvlStrCache>
            </c:multiLvlStrRef>
          </c:cat>
          <c:val>
            <c:numRef>
              <c:f>Dashboard!$B$191:$B$238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33-4386-B247-029583065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6192128"/>
        <c:axId val="776193088"/>
      </c:lineChart>
      <c:catAx>
        <c:axId val="7761921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/>
                  <a:t>Date</a:t>
                </a:r>
                <a:endParaRPr lang="en-IN" sz="14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6193088"/>
        <c:crosses val="autoZero"/>
        <c:auto val="1"/>
        <c:lblAlgn val="ctr"/>
        <c:lblOffset val="100"/>
        <c:noMultiLvlLbl val="0"/>
      </c:catAx>
      <c:valAx>
        <c:axId val="776193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800" dirty="0"/>
                  <a:t>Rides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61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[BikeSharing Combined Datesetxlsx.xlsx]Dashboard Data!PivotTable16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'Dashboard Data'!$B$275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'Dashboard Data'!$A$276:$A$280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'Dashboard Data'!$B$276:$B$280</c:f>
              <c:numCache>
                <c:formatCode>0.00</c:formatCode>
                <c:ptCount val="4"/>
                <c:pt idx="0">
                  <c:v>0.19739273927392756</c:v>
                </c:pt>
                <c:pt idx="1">
                  <c:v>0.22168284789644005</c:v>
                </c:pt>
                <c:pt idx="2">
                  <c:v>0.20904761904761915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0-4202-9C69-E5EFFFAD72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5594784"/>
        <c:axId val="1075596704"/>
      </c:barChart>
      <c:catAx>
        <c:axId val="107559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596704"/>
        <c:crosses val="autoZero"/>
        <c:auto val="1"/>
        <c:lblAlgn val="ctr"/>
        <c:lblOffset val="100"/>
        <c:noMultiLvlLbl val="0"/>
      </c:catAx>
      <c:valAx>
        <c:axId val="107559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594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[BikeSharing Combined Datesetxlsx.xlsx]Dashboard Data!PivotTable17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Daily Max</a:t>
            </a:r>
            <a:r>
              <a:rPr lang="en-US" baseline="0" dirty="0"/>
              <a:t> Windspeed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'Dashboard Data'!$G$273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'Dashboard Data'!$F$274:$F$281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'Dashboard Data'!$G$274:$G$281</c:f>
              <c:numCache>
                <c:formatCode>General</c:formatCode>
                <c:ptCount val="7"/>
                <c:pt idx="0">
                  <c:v>0.52239999999999998</c:v>
                </c:pt>
                <c:pt idx="1">
                  <c:v>0.41789999999999999</c:v>
                </c:pt>
                <c:pt idx="2">
                  <c:v>0.58209999999999995</c:v>
                </c:pt>
                <c:pt idx="3">
                  <c:v>0.58209999999999995</c:v>
                </c:pt>
                <c:pt idx="4">
                  <c:v>0.52239999999999998</c:v>
                </c:pt>
                <c:pt idx="5">
                  <c:v>0.58209999999999995</c:v>
                </c:pt>
                <c:pt idx="6">
                  <c:v>0.55220000000000002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C6-4C1C-8974-94536FF06D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7713248"/>
        <c:axId val="447708448"/>
      </c:barChart>
      <c:catAx>
        <c:axId val="447713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708448"/>
        <c:crosses val="autoZero"/>
        <c:auto val="1"/>
        <c:lblAlgn val="ctr"/>
        <c:lblOffset val="100"/>
        <c:noMultiLvlLbl val="0"/>
      </c:catAx>
      <c:valAx>
        <c:axId val="447708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7713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[BikeSharing Combined Datesetxlsx.xlsx]Dashboard Data!PivotTable18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'Dashboard Data'!$C$291</c:f>
              <c:strCache>
                <c:ptCount val="1"/>
                <c:pt idx="0">
                  <c:v>Casual 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'Dashboard Data'!$B$292:$B$299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'Dashboard Data'!$C$292:$C$299</c:f>
              <c:numCache>
                <c:formatCode>General</c:formatCode>
                <c:ptCount val="7"/>
                <c:pt idx="0">
                  <c:v>1477</c:v>
                </c:pt>
                <c:pt idx="1">
                  <c:v>534</c:v>
                </c:pt>
                <c:pt idx="2">
                  <c:v>457</c:v>
                </c:pt>
                <c:pt idx="3">
                  <c:v>344</c:v>
                </c:pt>
                <c:pt idx="4">
                  <c:v>332</c:v>
                </c:pt>
                <c:pt idx="5">
                  <c:v>552</c:v>
                </c:pt>
                <c:pt idx="6">
                  <c:v>1225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E-421C-AC41-2DB344A03345}"/>
            </c:ext>
          </c:extLst>
        </c:ser>
        <c:ser>
          <c:idx val="1"/>
          <c:order val="1"/>
          <c:tx>
            <c:strRef>
              <c:f>'Dashboard Data'!$D$291</c:f>
              <c:strCache>
                <c:ptCount val="1"/>
                <c:pt idx="0">
                  <c:v>Registered Customers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'Dashboard Data'!$B$292:$B$299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'Dashboard Data'!$D$292:$D$299</c:f>
              <c:numCache>
                <c:formatCode>General</c:formatCode>
                <c:ptCount val="7"/>
                <c:pt idx="0">
                  <c:v>6644</c:v>
                </c:pt>
                <c:pt idx="1">
                  <c:v>7916</c:v>
                </c:pt>
                <c:pt idx="2">
                  <c:v>7926</c:v>
                </c:pt>
                <c:pt idx="3">
                  <c:v>7705</c:v>
                </c:pt>
                <c:pt idx="4">
                  <c:v>8126</c:v>
                </c:pt>
                <c:pt idx="5">
                  <c:v>8543</c:v>
                </c:pt>
                <c:pt idx="6">
                  <c:v>6523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9E-421C-AC41-2DB344A03345}"/>
            </c:ext>
          </c:extLst>
        </c:ser>
        <c:ser>
          <c:idx val="2"/>
          <c:order val="2"/>
          <c:tx>
            <c:strRef>
              <c:f>'Dashboard Data'!$E$291</c:f>
              <c:strCache>
                <c:ptCount val="1"/>
                <c:pt idx="0">
                  <c:v>Sum of cnt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'Dashboard Data'!$B$292:$B$299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'Dashboard Data'!$E$292:$E$299</c:f>
              <c:numCache>
                <c:formatCode>General</c:formatCode>
                <c:ptCount val="7"/>
                <c:pt idx="0">
                  <c:v>8121</c:v>
                </c:pt>
                <c:pt idx="1">
                  <c:v>8450</c:v>
                </c:pt>
                <c:pt idx="2">
                  <c:v>8383</c:v>
                </c:pt>
                <c:pt idx="3">
                  <c:v>8049</c:v>
                </c:pt>
                <c:pt idx="4">
                  <c:v>8458</c:v>
                </c:pt>
                <c:pt idx="5">
                  <c:v>9095</c:v>
                </c:pt>
                <c:pt idx="6">
                  <c:v>7748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9E-421C-AC41-2DB344A03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6170352"/>
        <c:axId val="246171312"/>
      </c:barChart>
      <c:catAx>
        <c:axId val="24617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6171312"/>
        <c:crosses val="autoZero"/>
        <c:auto val="1"/>
        <c:lblAlgn val="ctr"/>
        <c:lblOffset val="100"/>
        <c:noMultiLvlLbl val="0"/>
      </c:catAx>
      <c:valAx>
        <c:axId val="246171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617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0E232-5A25-44CF-A21C-D8DB853DFA48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F5481-514C-4191-BEE8-3D2FDA0DEF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the highest bike rentals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F5481-514C-4191-BEE8-3D2FDA0DEFD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73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88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3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80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85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605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52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6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232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94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28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070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6698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806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25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21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25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0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07AC58-B9AA-405D-81E1-57CC4E29D3E3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31A2B4B-38DD-4CB8-B43B-E41BCF610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573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FB31-F006-AEDD-B972-F1DE8CCF5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063" y="2244213"/>
            <a:ext cx="9144000" cy="1374057"/>
          </a:xfrm>
        </p:spPr>
        <p:txBody>
          <a:bodyPr>
            <a:noAutofit/>
          </a:bodyPr>
          <a:lstStyle/>
          <a:p>
            <a:r>
              <a:rPr lang="en-IN" b="1" dirty="0"/>
              <a:t>Bike Sharing Demand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228A4-8847-8390-6FFD-82B29DD9E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4632" y="4798142"/>
            <a:ext cx="2733367" cy="459657"/>
          </a:xfrm>
        </p:spPr>
        <p:txBody>
          <a:bodyPr/>
          <a:lstStyle/>
          <a:p>
            <a:r>
              <a:rPr lang="en-US" dirty="0"/>
              <a:t>By Shiva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94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CA79-B63D-237F-A596-C9B36720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1348182"/>
          </a:xfrm>
        </p:spPr>
        <p:txBody>
          <a:bodyPr>
            <a:normAutofit/>
          </a:bodyPr>
          <a:lstStyle/>
          <a:p>
            <a:r>
              <a:rPr lang="en-IN" sz="4000" b="1" dirty="0"/>
              <a:t>PROJECT OVERVIEW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AD975-58E4-E425-C379-9F3122656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4" y="1956619"/>
            <a:ext cx="10353763" cy="3840387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000" dirty="0"/>
              <a:t>The bike sharing demand forecasting project aims to </a:t>
            </a:r>
            <a:r>
              <a:rPr lang="en-IN" sz="2000" dirty="0" err="1"/>
              <a:t>analyze</a:t>
            </a:r>
            <a:r>
              <a:rPr lang="en-IN" sz="2000" dirty="0"/>
              <a:t> bike sharing data to understand how factors such as weather, time, and holidays.</a:t>
            </a:r>
          </a:p>
          <a:p>
            <a:pPr algn="l"/>
            <a:endParaRPr lang="en-IN" sz="2000" dirty="0"/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000" dirty="0"/>
              <a:t>By identifying key correlations and trends, the project helps organizations and operators optimize their services and plan for future demand with data driven decision making.</a:t>
            </a:r>
          </a:p>
          <a:p>
            <a:pPr algn="l"/>
            <a:endParaRPr lang="en-IN" sz="2000" dirty="0"/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000" dirty="0"/>
              <a:t>The initiative leverages robust datasets to study user behaviours and patterns in relation to external factors like weather conditions and </a:t>
            </a:r>
            <a:r>
              <a:rPr lang="en-IN" sz="2000" dirty="0" err="1"/>
              <a:t>calender</a:t>
            </a:r>
            <a:r>
              <a:rPr lang="en-IN" sz="2000" dirty="0"/>
              <a:t> events.</a:t>
            </a:r>
          </a:p>
        </p:txBody>
      </p:sp>
    </p:spTree>
    <p:extLst>
      <p:ext uri="{BB962C8B-B14F-4D97-AF65-F5344CB8AC3E}">
        <p14:creationId xmlns:p14="http://schemas.microsoft.com/office/powerpoint/2010/main" val="236817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E19F-DB14-5F09-1A08-7C3164D72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9900" y="5594453"/>
            <a:ext cx="10352199" cy="1140644"/>
          </a:xfrm>
        </p:spPr>
        <p:txBody>
          <a:bodyPr>
            <a:normAutofit/>
          </a:bodyPr>
          <a:lstStyle/>
          <a:p>
            <a:r>
              <a:rPr lang="en-US" sz="2800" dirty="0"/>
              <a:t>This Chart shows the relation of the Bike rentals based on the hours for both Casual and Registered Customers.</a:t>
            </a:r>
            <a:endParaRPr lang="en-IN" sz="2800" dirty="0"/>
          </a:p>
        </p:txBody>
      </p:sp>
      <p:graphicFrame>
        <p:nvGraphicFramePr>
          <p:cNvPr id="5" name="Hourly Bike Rides">
            <a:extLst>
              <a:ext uri="{FF2B5EF4-FFF2-40B4-BE49-F238E27FC236}">
                <a16:creationId xmlns:a16="http://schemas.microsoft.com/office/drawing/2014/main" id="{7FBDC30A-B388-27CD-1583-BFF85B99A6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389849"/>
              </p:ext>
            </p:extLst>
          </p:nvPr>
        </p:nvGraphicFramePr>
        <p:xfrm>
          <a:off x="0" y="0"/>
          <a:ext cx="12192000" cy="5566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833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4B40F-1873-EAF6-2F8F-B5E536330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6381135"/>
            <a:ext cx="12192000" cy="476864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This Chart shows the relation of the Bike rentals based on the Day for Casual and Registered Customers.</a:t>
            </a:r>
            <a:endParaRPr lang="en-IN" sz="2400" dirty="0"/>
          </a:p>
        </p:txBody>
      </p:sp>
      <p:graphicFrame>
        <p:nvGraphicFramePr>
          <p:cNvPr id="4" name="Daily customer Rides">
            <a:extLst>
              <a:ext uri="{FF2B5EF4-FFF2-40B4-BE49-F238E27FC236}">
                <a16:creationId xmlns:a16="http://schemas.microsoft.com/office/drawing/2014/main" id="{4B91D26C-3BC7-3709-9D42-46DD84ED7D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4905646"/>
              </p:ext>
            </p:extLst>
          </p:nvPr>
        </p:nvGraphicFramePr>
        <p:xfrm>
          <a:off x="0" y="-1"/>
          <a:ext cx="12192000" cy="6381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8447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AADB726-1C57-C5E2-07C8-6E71A884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effect on Customers Ride</a:t>
            </a:r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F36AF60-CDC8-5F49-9231-38C837D078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0793377"/>
              </p:ext>
            </p:extLst>
          </p:nvPr>
        </p:nvGraphicFramePr>
        <p:xfrm>
          <a:off x="914400" y="1731963"/>
          <a:ext cx="5059363" cy="405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B759EE83-EE86-B9F0-9E27-056600C940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5219509"/>
              </p:ext>
            </p:extLst>
          </p:nvPr>
        </p:nvGraphicFramePr>
        <p:xfrm>
          <a:off x="5983806" y="1694119"/>
          <a:ext cx="5293794" cy="451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0141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BE15-0AAD-8ABE-7343-62937736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Average Temperature</a:t>
            </a:r>
            <a:endParaRPr lang="en-IN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03BD0EB-AA4B-FF73-6DA2-86DD08B564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9008765"/>
              </p:ext>
            </p:extLst>
          </p:nvPr>
        </p:nvGraphicFramePr>
        <p:xfrm>
          <a:off x="913795" y="1740310"/>
          <a:ext cx="5101904" cy="4139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E9C39FF-0B2D-C5C6-367F-B3E6C07E48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7177413"/>
              </p:ext>
            </p:extLst>
          </p:nvPr>
        </p:nvGraphicFramePr>
        <p:xfrm>
          <a:off x="6180425" y="1740310"/>
          <a:ext cx="5097780" cy="4139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3736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E9B3-FB60-5AA5-5D0F-83EA1FE5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9C66A6B-2D3A-C2E5-A991-3219E2AA6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683457"/>
              </p:ext>
            </p:extLst>
          </p:nvPr>
        </p:nvGraphicFramePr>
        <p:xfrm>
          <a:off x="-5325" y="0"/>
          <a:ext cx="12192001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3307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C14F1-9028-2BEE-86F8-ECD5FCB06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9900" y="5623949"/>
            <a:ext cx="10352199" cy="1140644"/>
          </a:xfrm>
        </p:spPr>
        <p:txBody>
          <a:bodyPr>
            <a:normAutofit/>
          </a:bodyPr>
          <a:lstStyle/>
          <a:p>
            <a:r>
              <a:rPr lang="en-US" sz="2400" dirty="0"/>
              <a:t>This Chart shows the relation between Humidity and Bike Rental demands for Casual, Registered and Both.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82C11F-E737-929C-16A3-AE0B1FD4A7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7349687"/>
              </p:ext>
            </p:extLst>
          </p:nvPr>
        </p:nvGraphicFramePr>
        <p:xfrm>
          <a:off x="0" y="-1"/>
          <a:ext cx="12192000" cy="5623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779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81AEB4A-ABC6-0EEB-8079-BE8350360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177765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2165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993B-862B-0DFD-FD71-4AE27B30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Rides Comparison for Casual, Registered and Total</a:t>
            </a: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24F012-8408-ED9A-7B7F-707406EFDE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6988793"/>
              </p:ext>
            </p:extLst>
          </p:nvPr>
        </p:nvGraphicFramePr>
        <p:xfrm>
          <a:off x="0" y="1732448"/>
          <a:ext cx="6096000" cy="4982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BA13208-9E12-239F-0511-DFC25B01C0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364273"/>
              </p:ext>
            </p:extLst>
          </p:nvPr>
        </p:nvGraphicFramePr>
        <p:xfrm>
          <a:off x="6322142" y="1732448"/>
          <a:ext cx="5869858" cy="4982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3108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81AEB4A-ABC6-0EEB-8079-BE8350360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662519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942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E87E-AD6B-C77D-7AC8-FADA1616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This chart shows the Average Temp/Weather situation and 2</a:t>
            </a:r>
            <a:r>
              <a:rPr lang="en-US" sz="2800" baseline="30000" dirty="0"/>
              <a:t>nd</a:t>
            </a:r>
            <a:r>
              <a:rPr lang="en-US" sz="2800" dirty="0"/>
              <a:t> Chart showing the Max Windspeed</a:t>
            </a:r>
            <a:endParaRPr lang="en-IN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C42C42-6D25-5460-C0D3-EEEAC48AA44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27425090"/>
              </p:ext>
            </p:extLst>
          </p:nvPr>
        </p:nvGraphicFramePr>
        <p:xfrm>
          <a:off x="914400" y="1731963"/>
          <a:ext cx="5059363" cy="405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26329F-7D12-CBAA-9891-A7021F5EBCF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3370321"/>
              </p:ext>
            </p:extLst>
          </p:nvPr>
        </p:nvGraphicFramePr>
        <p:xfrm>
          <a:off x="6202363" y="1731963"/>
          <a:ext cx="5065712" cy="405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88412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8B8E1F3-FCBA-123B-2EF9-5A2D41165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0576154"/>
              </p:ext>
            </p:extLst>
          </p:nvPr>
        </p:nvGraphicFramePr>
        <p:xfrm>
          <a:off x="0" y="0"/>
          <a:ext cx="12192000" cy="6007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5AAB71-71EB-55ED-583D-857C202997B0}"/>
              </a:ext>
            </a:extLst>
          </p:cNvPr>
          <p:cNvSpPr/>
          <p:nvPr/>
        </p:nvSpPr>
        <p:spPr>
          <a:xfrm>
            <a:off x="442446" y="6056670"/>
            <a:ext cx="10736826" cy="717755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chart shows daily rides for Customer. Friday has the highest bike sharing.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9891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C764-CE80-22C8-5F33-D2F55714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411" y="245807"/>
            <a:ext cx="10353762" cy="970450"/>
          </a:xfrm>
        </p:spPr>
        <p:txBody>
          <a:bodyPr>
            <a:normAutofit/>
          </a:bodyPr>
          <a:lstStyle/>
          <a:p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Demand Tiers &amp; Customer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C72A-133C-21A2-1EF3-A54520313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8492" y="1985060"/>
            <a:ext cx="5457508" cy="4058750"/>
          </a:xfrm>
        </p:spPr>
        <p:txBody>
          <a:bodyPr>
            <a:normAutofit fontScale="77500" lnSpcReduction="20000"/>
          </a:bodyPr>
          <a:lstStyle/>
          <a:p>
            <a:pPr marL="36900" indent="0">
              <a:buNone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	</a:t>
            </a:r>
            <a:r>
              <a:rPr lang="en-IN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Demand Tiers (Hour &amp; Weather)</a:t>
            </a:r>
          </a:p>
          <a:p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 dividing operational history into distinct demand tiers, we discover that baseline Low Demand represents the vast majority of operating hours.</a:t>
            </a:r>
          </a:p>
          <a:p>
            <a:br>
              <a:rPr lang="en-IN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Conversely, High Demand occurs during concentrated, high-yield commuter windows under favourable weather profiles (Mild cold &amp; Good weather).</a:t>
            </a:r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  <a:p>
            <a:endParaRPr lang="en-IN" sz="2800" dirty="0">
              <a:solidFill>
                <a:schemeClr val="accent6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A63644-4332-AB23-A7E7-A8444FF4A457}"/>
              </a:ext>
            </a:extLst>
          </p:cNvPr>
          <p:cNvSpPr txBox="1">
            <a:spLocks/>
          </p:cNvSpPr>
          <p:nvPr/>
        </p:nvSpPr>
        <p:spPr>
          <a:xfrm>
            <a:off x="6096000" y="1870100"/>
            <a:ext cx="5457508" cy="4058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ell MT" panose="02020503060305020303" pitchFamily="18" charset="0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63F69CB-A89D-59DB-F7AC-4D4898657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11" y="1985060"/>
            <a:ext cx="303213" cy="36096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22AF885-A7B6-D45E-3EE8-3A2746A81E9E}"/>
              </a:ext>
            </a:extLst>
          </p:cNvPr>
          <p:cNvSpPr txBox="1">
            <a:spLocks/>
          </p:cNvSpPr>
          <p:nvPr/>
        </p:nvSpPr>
        <p:spPr>
          <a:xfrm>
            <a:off x="6557508" y="1985060"/>
            <a:ext cx="5457508" cy="4058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	</a:t>
            </a:r>
            <a:r>
              <a:rPr lang="en-IN" sz="3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Casual vs. Registered Profiles</a:t>
            </a:r>
          </a:p>
          <a:p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3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subscribers compose the steady bedrock of predictable revenue, maintaining a steady daily presence.</a:t>
            </a:r>
          </a:p>
          <a:p>
            <a:endParaRPr lang="en-IN" sz="3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Casual riders represent highly weather-sensitive consumers who represent prime conversion targets to increase subscription revenue.</a:t>
            </a:r>
            <a:endParaRPr lang="en-IN" sz="3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sz="2800" dirty="0">
              <a:solidFill>
                <a:schemeClr val="bg1"/>
              </a:solidFill>
            </a:endParaRPr>
          </a:p>
          <a:p>
            <a:pPr marL="36900" indent="0">
              <a:buNone/>
            </a:pPr>
            <a:endParaRPr lang="en-IN" sz="2800" dirty="0">
              <a:solidFill>
                <a:schemeClr val="accent6"/>
              </a:solidFill>
            </a:endParaRPr>
          </a:p>
          <a:p>
            <a:pPr marL="36900" indent="0">
              <a:buNone/>
            </a:pPr>
            <a:endParaRPr lang="en-IN" sz="2800" dirty="0">
              <a:solidFill>
                <a:schemeClr val="accent6"/>
              </a:solidFill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D3347A12-5136-DFBA-E614-064834570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08" y="2040172"/>
            <a:ext cx="413198" cy="34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21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E983-266C-FB08-D59C-91B42142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97393"/>
            <a:ext cx="10353762" cy="1403069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959433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1406</TotalTime>
  <Words>337</Words>
  <Application>Microsoft Office PowerPoint</Application>
  <PresentationFormat>Widescreen</PresentationFormat>
  <Paragraphs>48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Bell MT</vt:lpstr>
      <vt:lpstr>Calibri</vt:lpstr>
      <vt:lpstr>Calisto MT</vt:lpstr>
      <vt:lpstr>Wingdings</vt:lpstr>
      <vt:lpstr>Wingdings 2</vt:lpstr>
      <vt:lpstr>Slate</vt:lpstr>
      <vt:lpstr>Bike Sharing Demand Analysis</vt:lpstr>
      <vt:lpstr>PROJECT OVERVIEW</vt:lpstr>
      <vt:lpstr>PowerPoint Presentation</vt:lpstr>
      <vt:lpstr>PowerPoint Presentation</vt:lpstr>
      <vt:lpstr>Weather effect on Customers Ride</vt:lpstr>
      <vt:lpstr>Daily Average Temperature</vt:lpstr>
      <vt:lpstr>PowerPoint Presentation</vt:lpstr>
      <vt:lpstr>PowerPoint Presentation</vt:lpstr>
      <vt:lpstr>PowerPoint Presentation</vt:lpstr>
      <vt:lpstr>Rides Comparison for Casual, Registered and Total</vt:lpstr>
      <vt:lpstr>PowerPoint Presentation</vt:lpstr>
      <vt:lpstr>This chart shows the Average Temp/Weather situation and 2nd Chart showing the Max Windspeed</vt:lpstr>
      <vt:lpstr>PowerPoint Presentation</vt:lpstr>
      <vt:lpstr>Demand Tiers &amp; Customer Segments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Shilpa Singh</dc:creator>
  <cp:lastModifiedBy>Shilpa Singh</cp:lastModifiedBy>
  <cp:revision>25</cp:revision>
  <dcterms:created xsi:type="dcterms:W3CDTF">2026-07-24T00:35:23Z</dcterms:created>
  <dcterms:modified xsi:type="dcterms:W3CDTF">2026-07-25T18:59:33Z</dcterms:modified>
</cp:coreProperties>
</file>